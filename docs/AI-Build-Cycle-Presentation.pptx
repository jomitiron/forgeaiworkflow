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01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28600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 spc="140">
                <a:solidFill>
                  <a:srgbClr val="0078D4"/>
                </a:solidFill>
                <a:latin typeface="Segoe UI"/>
              </a:rPr>
              <a:t>TEAM GUIDE · DRAFT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74320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800" b="1" i="0">
                <a:solidFill>
                  <a:srgbClr val="FFFFFF"/>
                </a:solidFill>
                <a:latin typeface="Segoe UI"/>
              </a:rPr>
              <a:t>The AI Build Cycle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794760"/>
            <a:ext cx="9601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D2D0CE"/>
                </a:solidFill>
                <a:latin typeface="Segoe UI"/>
              </a:rPr>
              <a:t>Our operating model for building with AI — from a first idea to a maintained system.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9893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9A9896"/>
                </a:solidFill>
                <a:latin typeface="Segoe UI"/>
              </a:rPr>
              <a:t>Grounded in Google’s Vibe Coding whitepaper, DORA, GitLab, METR, and Microsoft’s own SDL and dogfooding practice.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 spc="120">
                <a:solidFill>
                  <a:srgbClr val="0078D4"/>
                </a:solidFill>
                <a:latin typeface="Segoe UI"/>
              </a:rPr>
              <a:t>WHY THIS SHAPE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04672"/>
            <a:ext cx="502920" cy="2794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201F1E"/>
                </a:solidFill>
                <a:latin typeface="Segoe UI"/>
              </a:rPr>
              <a:t>Verification, not code, is the new bottleneck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042416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2200"/>
              </a:spcAft>
            </a:pPr>
            <a:r>
              <a:rPr sz="1700" b="1">
                <a:solidFill>
                  <a:srgbClr val="0078D4"/>
                </a:solidFill>
                <a:latin typeface="Segoe UI"/>
              </a:rPr>
              <a:t>›  </a:t>
            </a:r>
            <a:r>
              <a:rPr sz="1700">
                <a:solidFill>
                  <a:srgbClr val="201F1E"/>
                </a:solidFill>
                <a:latin typeface="Segoe UI"/>
              </a:rPr>
              <a:t>Agent = Model + Harness — the model is ~10% of the system; instructions, tools, and guardrails are the other 90%.</a:t>
            </a:r>
          </a:p>
          <a:p>
            <a:pPr algn="l">
              <a:lnSpc>
                <a:spcPct val="118000"/>
              </a:lnSpc>
              <a:spcAft>
                <a:spcPts val="2200"/>
              </a:spcAft>
            </a:pPr>
            <a:r>
              <a:rPr sz="1700" b="1">
                <a:solidFill>
                  <a:srgbClr val="0078D4"/>
                </a:solidFill>
                <a:latin typeface="Segoe UI"/>
              </a:rPr>
              <a:t>›  </a:t>
            </a:r>
            <a:r>
              <a:rPr sz="1700">
                <a:solidFill>
                  <a:srgbClr val="201F1E"/>
                </a:solidFill>
                <a:latin typeface="Segoe UI"/>
              </a:rPr>
              <a:t>Verification rigor is a dial, not a switch — match it to what’s at stake, one notch stricter than feels necessary.</a:t>
            </a:r>
          </a:p>
          <a:p>
            <a:pPr algn="l">
              <a:lnSpc>
                <a:spcPct val="118000"/>
              </a:lnSpc>
              <a:spcAft>
                <a:spcPts val="2200"/>
              </a:spcAft>
            </a:pPr>
            <a:r>
              <a:rPr sz="1700" b="1">
                <a:solidFill>
                  <a:srgbClr val="0078D4"/>
                </a:solidFill>
                <a:latin typeface="Segoe UI"/>
              </a:rPr>
              <a:t>›  </a:t>
            </a:r>
            <a:r>
              <a:rPr sz="1700">
                <a:solidFill>
                  <a:srgbClr val="201F1E"/>
                </a:solidFill>
                <a:latin typeface="Segoe UI"/>
              </a:rPr>
              <a:t>This is why Steps 1–2 are reshaped into a faster loop, while Steps 4–7 stay close to standard practice — hardened, not reinvented.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A8886"/>
                </a:solidFill>
                <a:latin typeface="Segoe UI"/>
              </a:rPr>
              <a:t>The AI Build Cycle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473952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A8886"/>
                </a:solidFill>
                <a:latin typeface="Segoe UI"/>
              </a:rPr>
              <a:t>Why this shape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 spc="120">
                <a:solidFill>
                  <a:srgbClr val="0078D4"/>
                </a:solidFill>
                <a:latin typeface="Segoe UI"/>
              </a:rPr>
              <a:t>THE AMPLIFIER PRINCIPLE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04672"/>
            <a:ext cx="502920" cy="2794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201F1E"/>
                </a:solidFill>
                <a:latin typeface="Segoe UI"/>
              </a:rPr>
              <a:t>AI doesn’t fix a team’s problems — it amplifies them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DF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103327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 i="1">
                <a:solidFill>
                  <a:srgbClr val="004C87"/>
                </a:solidFill>
                <a:latin typeface="Segoe UI"/>
              </a:rPr>
              <a:t>“The walls matter more than the model.”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88036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8A8886"/>
                </a:solidFill>
                <a:latin typeface="Segoe UI"/>
              </a:rPr>
              <a:t>— Stripe 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114800"/>
            <a:ext cx="1042416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1600"/>
              </a:spcAft>
            </a:pPr>
            <a:r>
              <a:rPr sz="1600" b="1">
                <a:solidFill>
                  <a:srgbClr val="0078D4"/>
                </a:solidFill>
                <a:latin typeface="Segoe UI"/>
              </a:rPr>
              <a:t>›  </a:t>
            </a:r>
            <a:r>
              <a:rPr sz="1600">
                <a:solidFill>
                  <a:srgbClr val="201F1E"/>
                </a:solidFill>
                <a:latin typeface="Segoe UI"/>
              </a:rPr>
              <a:t>DORA 2025 (~5,000 respondents): good tests, clear conventions, tight CI → excellent agent output.</a:t>
            </a:r>
          </a:p>
          <a:p>
            <a:pPr algn="l">
              <a:lnSpc>
                <a:spcPct val="118000"/>
              </a:lnSpc>
              <a:spcAft>
                <a:spcPts val="1600"/>
              </a:spcAft>
            </a:pPr>
            <a:r>
              <a:rPr sz="1600" b="1">
                <a:solidFill>
                  <a:srgbClr val="0078D4"/>
                </a:solidFill>
                <a:latin typeface="Segoe UI"/>
              </a:rPr>
              <a:t>›  </a:t>
            </a:r>
            <a:r>
              <a:rPr sz="1600">
                <a:solidFill>
                  <a:srgbClr val="201F1E"/>
                </a:solidFill>
                <a:latin typeface="Segoe UI"/>
              </a:rPr>
              <a:t>Without that foundation → the same problems, just faster and at higher volume.</a:t>
            </a:r>
          </a:p>
          <a:p>
            <a:pPr algn="l">
              <a:lnSpc>
                <a:spcPct val="118000"/>
              </a:lnSpc>
              <a:spcAft>
                <a:spcPts val="1600"/>
              </a:spcAft>
            </a:pPr>
            <a:r>
              <a:rPr sz="1600" b="1">
                <a:solidFill>
                  <a:srgbClr val="0078D4"/>
                </a:solidFill>
                <a:latin typeface="Segoe UI"/>
              </a:rPr>
              <a:t>›  </a:t>
            </a:r>
            <a:r>
              <a:rPr sz="1600">
                <a:solidFill>
                  <a:srgbClr val="201F1E"/>
                </a:solidFill>
                <a:latin typeface="Segoe UI"/>
              </a:rPr>
              <a:t>Fix foundations before scaling AI usage past a pilot.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A8886"/>
                </a:solidFill>
                <a:latin typeface="Segoe UI"/>
              </a:rPr>
              <a:t>The AI Build Cycle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473952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A8886"/>
                </a:solidFill>
                <a:latin typeface="Segoe UI"/>
              </a:rPr>
              <a:t>The amplifier principle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 spc="120">
                <a:solidFill>
                  <a:srgbClr val="0078D4"/>
                </a:solidFill>
                <a:latin typeface="Segoe UI"/>
              </a:rPr>
              <a:t>THE CYCLE AT A GLANCE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04672"/>
            <a:ext cx="502920" cy="2794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201F1E"/>
                </a:solidFill>
                <a:latin typeface="Segoe UI"/>
              </a:rPr>
              <a:t>Seven steps, one hard fork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48840"/>
            <a:ext cx="1417711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313432"/>
            <a:ext cx="141771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201F1E"/>
                </a:solidFill>
                <a:latin typeface="Segoe U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770632"/>
            <a:ext cx="1271407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i="0">
                <a:solidFill>
                  <a:srgbClr val="201F1E"/>
                </a:solidFill>
                <a:latin typeface="Segoe UI"/>
              </a:rPr>
              <a:t>Requirements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3191255"/>
            <a:ext cx="127140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0" i="0">
                <a:solidFill>
                  <a:srgbClr val="8A8886"/>
                </a:solidFill>
                <a:latin typeface="Segoe UI"/>
              </a:rPr>
              <a:t>no diff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82479" y="2651760"/>
            <a:ext cx="11521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8A8886"/>
                </a:solidFill>
                <a:latin typeface="Segoe UI"/>
              </a:rPr>
              <a:t>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22383" y="2148840"/>
            <a:ext cx="1417711" cy="1371600"/>
          </a:xfrm>
          <a:prstGeom prst="roundRect">
            <a:avLst>
              <a:gd name="adj" fmla="val 6000"/>
            </a:avLst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22383" y="2313432"/>
            <a:ext cx="141771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95535" y="2770632"/>
            <a:ext cx="1271407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i="0">
                <a:solidFill>
                  <a:srgbClr val="FFFFFF"/>
                </a:solidFill>
                <a:latin typeface="Segoe UI"/>
              </a:rPr>
              <a:t>Prototyping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95535" y="3191255"/>
            <a:ext cx="127140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0" i="0">
                <a:solidFill>
                  <a:srgbClr val="DDEEFB"/>
                </a:solidFill>
                <a:latin typeface="Segoe UI"/>
              </a:rPr>
              <a:t>hard fork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64782" y="2651760"/>
            <a:ext cx="11521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8A8886"/>
                </a:solidFill>
                <a:latin typeface="Segoe UI"/>
              </a:rPr>
              <a:t>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804686" y="2148840"/>
            <a:ext cx="1417711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04686" y="2313432"/>
            <a:ext cx="141771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201F1E"/>
                </a:solidFill>
                <a:latin typeface="Segoe U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77838" y="2770632"/>
            <a:ext cx="1271407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i="0">
                <a:solidFill>
                  <a:srgbClr val="201F1E"/>
                </a:solidFill>
                <a:latin typeface="Segoe UI"/>
              </a:rPr>
              <a:t>Design &amp; Arch.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77838" y="3191255"/>
            <a:ext cx="127140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0" i="0">
                <a:solidFill>
                  <a:srgbClr val="8A8886"/>
                </a:solidFill>
                <a:latin typeface="Segoe UI"/>
              </a:rPr>
              <a:t>partial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47085" y="2651760"/>
            <a:ext cx="11521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8A8886"/>
                </a:solidFill>
                <a:latin typeface="Segoe UI"/>
              </a:rPr>
              <a:t>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386989" y="2148840"/>
            <a:ext cx="1417711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86989" y="2313432"/>
            <a:ext cx="141771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201F1E"/>
                </a:solidFill>
                <a:latin typeface="Segoe U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60141" y="2770632"/>
            <a:ext cx="1271407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i="0">
                <a:solidFill>
                  <a:srgbClr val="201F1E"/>
                </a:solidFill>
                <a:latin typeface="Segoe UI"/>
              </a:rPr>
              <a:t>Implementation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60141" y="3191255"/>
            <a:ext cx="127140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0" i="0">
                <a:solidFill>
                  <a:srgbClr val="8A8886"/>
                </a:solidFill>
                <a:latin typeface="Segoe UI"/>
              </a:rPr>
              <a:t>no diff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29388" y="2651760"/>
            <a:ext cx="11521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8A8886"/>
                </a:solidFill>
                <a:latin typeface="Segoe UI"/>
              </a:rPr>
              <a:t>›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969292" y="2148840"/>
            <a:ext cx="1417711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69292" y="2313432"/>
            <a:ext cx="141771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201F1E"/>
                </a:solidFill>
                <a:latin typeface="Segoe UI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42444" y="2770632"/>
            <a:ext cx="1271407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i="0">
                <a:solidFill>
                  <a:srgbClr val="201F1E"/>
                </a:solidFill>
                <a:latin typeface="Segoe UI"/>
              </a:rPr>
              <a:t>Testing &amp; QA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42444" y="3191255"/>
            <a:ext cx="127140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0" i="0">
                <a:solidFill>
                  <a:srgbClr val="8A8886"/>
                </a:solidFill>
                <a:latin typeface="Segoe UI"/>
              </a:rPr>
              <a:t>partial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1691" y="2651760"/>
            <a:ext cx="11521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8A8886"/>
                </a:solidFill>
                <a:latin typeface="Segoe UI"/>
              </a:rPr>
              <a:t>›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551595" y="2148840"/>
            <a:ext cx="1417711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51595" y="2313432"/>
            <a:ext cx="141771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201F1E"/>
                </a:solidFill>
                <a:latin typeface="Segoe UI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24747" y="2770632"/>
            <a:ext cx="1271407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i="0">
                <a:solidFill>
                  <a:srgbClr val="201F1E"/>
                </a:solidFill>
                <a:latin typeface="Segoe UI"/>
              </a:rPr>
              <a:t>Dog Fooding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24747" y="3191255"/>
            <a:ext cx="127140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0" i="0">
                <a:solidFill>
                  <a:srgbClr val="8A8886"/>
                </a:solidFill>
                <a:latin typeface="Segoe UI"/>
              </a:rPr>
              <a:t>partial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93994" y="2651760"/>
            <a:ext cx="11521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8A8886"/>
                </a:solidFill>
                <a:latin typeface="Segoe UI"/>
              </a:rPr>
              <a:t>›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133898" y="2148840"/>
            <a:ext cx="1417711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133898" y="2313432"/>
            <a:ext cx="141771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201F1E"/>
                </a:solidFill>
                <a:latin typeface="Segoe UI"/>
              </a:rPr>
              <a:t>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207050" y="2770632"/>
            <a:ext cx="1271407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i="0">
                <a:solidFill>
                  <a:srgbClr val="201F1E"/>
                </a:solidFill>
                <a:latin typeface="Segoe UI"/>
              </a:rPr>
              <a:t>Maintenance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07050" y="3191255"/>
            <a:ext cx="127140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0" i="0">
                <a:solidFill>
                  <a:srgbClr val="8A8886"/>
                </a:solidFill>
                <a:latin typeface="Segoe UI"/>
              </a:rPr>
              <a:t>no diff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3977639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605E5C"/>
                </a:solidFill>
                <a:latin typeface="Segoe UI"/>
              </a:rPr>
              <a:t>“Track” never oversees a step — it only forks the mechanism inside Step 2.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40080" y="4663440"/>
            <a:ext cx="10881360" cy="1417320"/>
          </a:xfrm>
          <a:prstGeom prst="roundRect">
            <a:avLst>
              <a:gd name="adj" fmla="val 6000"/>
            </a:avLst>
          </a:prstGeom>
          <a:solidFill>
            <a:srgbClr val="F3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" y="4846320"/>
            <a:ext cx="10332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 spc="100">
                <a:solidFill>
                  <a:srgbClr val="0078D4"/>
                </a:solidFill>
                <a:latin typeface="Segoe UI"/>
              </a:rPr>
              <a:t>STANDING RULE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4400" y="5166360"/>
            <a:ext cx="10332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201F1E"/>
                </a:solidFill>
                <a:latin typeface="Segoe UI"/>
              </a:rPr>
              <a:t>Every outcome needs a named owner who signs off on it. Who that is varies by team — but “nobody signed this” is never acceptable.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A8886"/>
                </a:solidFill>
                <a:latin typeface="Segoe UI"/>
              </a:rPr>
              <a:t>The AI Build Cycle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686800" y="6473952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A8886"/>
                </a:solidFill>
                <a:latin typeface="Segoe UI"/>
              </a:rPr>
              <a:t>The cycle at a glance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502920"/>
            <a:ext cx="566928" cy="566928"/>
          </a:xfrm>
          <a:prstGeom prst="ellipse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4572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100">
                <a:solidFill>
                  <a:srgbClr val="0078D4"/>
                </a:solidFill>
                <a:latin typeface="Segoe UI"/>
              </a:rPr>
              <a:t>NO TRACK DIFFERENCE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713232"/>
            <a:ext cx="9601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201F1E"/>
                </a:solidFill>
                <a:latin typeface="Segoe UI"/>
              </a:rPr>
              <a:t>Planning &amp; Requirements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417320"/>
            <a:ext cx="10881360" cy="15240"/>
          </a:xfrm>
          <a:prstGeom prst="rect">
            <a:avLst/>
          </a:prstGeom>
          <a:solidFill>
            <a:srgbClr val="E1DF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00200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605E5C"/>
                </a:solidFill>
                <a:latin typeface="Segoe UI"/>
              </a:rPr>
              <a:t>Requirements-gathering is a fast, direct conversation — but it still ends in something written down.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514600"/>
            <a:ext cx="5303520" cy="2880360"/>
          </a:xfrm>
          <a:prstGeom prst="roundRect">
            <a:avLst>
              <a:gd name="adj" fmla="val 6000"/>
            </a:avLst>
          </a:prstGeom>
          <a:solidFill>
            <a:srgbClr val="DFF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679192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120">
                <a:solidFill>
                  <a:srgbClr val="0F7B0F"/>
                </a:solidFill>
                <a:latin typeface="Segoe UI"/>
              </a:rPr>
              <a:t>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3017520"/>
            <a:ext cx="4846320" cy="2240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900"/>
              </a:spcAft>
            </a:pPr>
            <a:r>
              <a:rPr sz="1300" b="1">
                <a:solidFill>
                  <a:srgbClr val="0F7B0F"/>
                </a:solidFill>
                <a:latin typeface="Segoe UI"/>
              </a:rPr>
              <a:t>›  </a:t>
            </a:r>
            <a:r>
              <a:rPr sz="1300">
                <a:solidFill>
                  <a:srgbClr val="201F1E"/>
                </a:solidFill>
                <a:latin typeface="Segoe UI"/>
              </a:rPr>
              <a:t>Interview the AI in reverse until it can restate acceptance criteria back to you.</a:t>
            </a:r>
          </a:p>
          <a:p>
            <a:pPr algn="l">
              <a:lnSpc>
                <a:spcPct val="118000"/>
              </a:lnSpc>
              <a:spcAft>
                <a:spcPts val="900"/>
              </a:spcAft>
            </a:pPr>
            <a:r>
              <a:rPr sz="1300" b="1">
                <a:solidFill>
                  <a:srgbClr val="0F7B0F"/>
                </a:solidFill>
                <a:latin typeface="Segoe UI"/>
              </a:rPr>
              <a:t>›  </a:t>
            </a:r>
            <a:r>
              <a:rPr sz="1300">
                <a:solidFill>
                  <a:srgbClr val="201F1E"/>
                </a:solidFill>
                <a:latin typeface="Segoe UI"/>
              </a:rPr>
              <a:t>Write GIVEN/WHEN/THEN criteria, explicit non-goals, and quality targets.</a:t>
            </a:r>
          </a:p>
          <a:p>
            <a:pPr algn="l">
              <a:lnSpc>
                <a:spcPct val="118000"/>
              </a:lnSpc>
              <a:spcAft>
                <a:spcPts val="900"/>
              </a:spcAft>
            </a:pPr>
            <a:r>
              <a:rPr sz="1300" b="1">
                <a:solidFill>
                  <a:srgbClr val="0F7B0F"/>
                </a:solidFill>
                <a:latin typeface="Segoe UI"/>
              </a:rPr>
              <a:t>›  </a:t>
            </a:r>
            <a:r>
              <a:rPr sz="1300">
                <a:solidFill>
                  <a:srgbClr val="201F1E"/>
                </a:solidFill>
                <a:latin typeface="Segoe UI"/>
              </a:rPr>
              <a:t>Decide the track and verification rigor up front — say so in the ticket.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2514600"/>
            <a:ext cx="5303520" cy="2880360"/>
          </a:xfrm>
          <a:prstGeom prst="roundRect">
            <a:avLst>
              <a:gd name="adj" fmla="val 6000"/>
            </a:avLst>
          </a:prstGeom>
          <a:solidFill>
            <a:srgbClr val="FDE7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73952" y="2679192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120">
                <a:solidFill>
                  <a:srgbClr val="D83B01"/>
                </a:solidFill>
                <a:latin typeface="Segoe UI"/>
              </a:rPr>
              <a:t>DON'T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3952" y="3017520"/>
            <a:ext cx="4846320" cy="2240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900"/>
              </a:spcAft>
            </a:pPr>
            <a:r>
              <a:rPr sz="1300" b="1">
                <a:solidFill>
                  <a:srgbClr val="D83B01"/>
                </a:solidFill>
                <a:latin typeface="Segoe UI"/>
              </a:rPr>
              <a:t>›  </a:t>
            </a:r>
            <a:r>
              <a:rPr sz="1300">
                <a:solidFill>
                  <a:srgbClr val="201F1E"/>
                </a:solidFill>
                <a:latin typeface="Segoe UI"/>
              </a:rPr>
              <a:t>Let a plausible AI-written plan substitute for a domain expert reading it.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5623560"/>
            <a:ext cx="10881360" cy="566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" y="5678424"/>
            <a:ext cx="105156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100">
                <a:solidFill>
                  <a:srgbClr val="0078D4"/>
                </a:solidFill>
                <a:latin typeface="Segoe UI"/>
              </a:rPr>
              <a:t>OUTCOME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5879592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201F1E"/>
                </a:solidFill>
                <a:latin typeface="Segoe UI"/>
              </a:rPr>
              <a:t>Requirements Document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A8886"/>
                </a:solidFill>
                <a:latin typeface="Segoe UI"/>
              </a:rPr>
              <a:t>The AI Build Cycle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6473952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A8886"/>
                </a:solidFill>
                <a:latin typeface="Segoe UI"/>
              </a:rPr>
              <a:t>Step 1 of 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502920"/>
            <a:ext cx="566928" cy="566928"/>
          </a:xfrm>
          <a:prstGeom prst="ellipse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4572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100">
                <a:solidFill>
                  <a:srgbClr val="0078D4"/>
                </a:solidFill>
                <a:latin typeface="Segoe UI"/>
              </a:rPr>
              <a:t>HARD FORK BY TRACK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607040" y="457200"/>
            <a:ext cx="914400" cy="365760"/>
          </a:xfrm>
          <a:prstGeom prst="roundRect">
            <a:avLst>
              <a:gd name="adj" fmla="val 6000"/>
            </a:avLst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07040" y="457200"/>
            <a:ext cx="9144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Segoe UI"/>
              </a:rPr>
              <a:t>× 3 TRACKS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713232"/>
            <a:ext cx="9601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201F1E"/>
                </a:solidFill>
                <a:latin typeface="Segoe UI"/>
              </a:rPr>
              <a:t>Interactive Prototyping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417320"/>
            <a:ext cx="10881360" cy="15240"/>
          </a:xfrm>
          <a:prstGeom prst="rect">
            <a:avLst/>
          </a:prstGeom>
          <a:solidFill>
            <a:srgbClr val="E1DF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600200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605E5C"/>
                </a:solidFill>
                <a:latin typeface="Segoe UI"/>
              </a:rPr>
              <a:t>A cyclical loop, not a single pass: build → get real reaction → adjust → repeat.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514600"/>
            <a:ext cx="5303520" cy="2880360"/>
          </a:xfrm>
          <a:prstGeom prst="roundRect">
            <a:avLst>
              <a:gd name="adj" fmla="val 6000"/>
            </a:avLst>
          </a:prstGeom>
          <a:solidFill>
            <a:srgbClr val="DFF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2679192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120">
                <a:solidFill>
                  <a:srgbClr val="0F7B0F"/>
                </a:solidFill>
                <a:latin typeface="Segoe UI"/>
              </a:rPr>
              <a:t>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3017520"/>
            <a:ext cx="4846320" cy="2240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900"/>
              </a:spcAft>
            </a:pPr>
            <a:r>
              <a:rPr sz="1300" b="1">
                <a:solidFill>
                  <a:srgbClr val="0F7B0F"/>
                </a:solidFill>
                <a:latin typeface="Segoe UI"/>
              </a:rPr>
              <a:t>›  </a:t>
            </a:r>
            <a:r>
              <a:rPr sz="1300">
                <a:solidFill>
                  <a:srgbClr val="201F1E"/>
                </a:solidFill>
                <a:latin typeface="Segoe UI"/>
              </a:rPr>
              <a:t>Get the reaction from whoever actually judges the outcome — not a proxy.</a:t>
            </a:r>
          </a:p>
          <a:p>
            <a:pPr algn="l">
              <a:lnSpc>
                <a:spcPct val="118000"/>
              </a:lnSpc>
              <a:spcAft>
                <a:spcPts val="900"/>
              </a:spcAft>
            </a:pPr>
            <a:r>
              <a:rPr sz="1300" b="1">
                <a:solidFill>
                  <a:srgbClr val="0F7B0F"/>
                </a:solidFill>
                <a:latin typeface="Segoe UI"/>
              </a:rPr>
              <a:t>›  </a:t>
            </a:r>
            <a:r>
              <a:rPr sz="1300">
                <a:solidFill>
                  <a:srgbClr val="201F1E"/>
                </a:solidFill>
                <a:latin typeface="Segoe UI"/>
              </a:rPr>
              <a:t>Keep cycling until edge cases and disagreements surface.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514600"/>
            <a:ext cx="5303520" cy="2880360"/>
          </a:xfrm>
          <a:prstGeom prst="roundRect">
            <a:avLst>
              <a:gd name="adj" fmla="val 6000"/>
            </a:avLst>
          </a:prstGeom>
          <a:solidFill>
            <a:srgbClr val="FDE7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3952" y="2679192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120">
                <a:solidFill>
                  <a:srgbClr val="D83B01"/>
                </a:solidFill>
                <a:latin typeface="Segoe UI"/>
              </a:rPr>
              <a:t>DON'T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3952" y="3017520"/>
            <a:ext cx="4846320" cy="2240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900"/>
              </a:spcAft>
            </a:pPr>
            <a:r>
              <a:rPr sz="1300" b="1">
                <a:solidFill>
                  <a:srgbClr val="D83B01"/>
                </a:solidFill>
                <a:latin typeface="Segoe UI"/>
              </a:rPr>
              <a:t>›  </a:t>
            </a:r>
            <a:r>
              <a:rPr sz="1300">
                <a:solidFill>
                  <a:srgbClr val="201F1E"/>
                </a:solidFill>
                <a:latin typeface="Segoe UI"/>
              </a:rPr>
              <a:t>Call it done because the first pass worked.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623560"/>
            <a:ext cx="10881360" cy="566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" y="5678424"/>
            <a:ext cx="105156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100">
                <a:solidFill>
                  <a:srgbClr val="0078D4"/>
                </a:solidFill>
                <a:latin typeface="Segoe UI"/>
              </a:rPr>
              <a:t>OUTCOME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" y="5879592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201F1E"/>
                </a:solidFill>
                <a:latin typeface="Segoe UI"/>
              </a:rPr>
              <a:t>Approved prototype / proven contract / approved example corpus (by track)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A8886"/>
                </a:solidFill>
                <a:latin typeface="Segoe UI"/>
              </a:rPr>
              <a:t>The AI Build Cycle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6473952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A8886"/>
                </a:solidFill>
                <a:latin typeface="Segoe UI"/>
              </a:rPr>
              <a:t>Step 2 of 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 spc="120">
                <a:solidFill>
                  <a:srgbClr val="0078D4"/>
                </a:solidFill>
                <a:latin typeface="Segoe UI"/>
              </a:rPr>
              <a:t>STEP 2 · THREE TRACKS, ONE LOOP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04672"/>
            <a:ext cx="502920" cy="2794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201F1E"/>
                </a:solidFill>
                <a:latin typeface="Segoe UI"/>
              </a:rPr>
              <a:t>The mechanism forks by what’s being built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3444240" cy="4297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DF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3444240" cy="73152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103120"/>
            <a:ext cx="298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201F1E"/>
                </a:solidFill>
                <a:latin typeface="Segoe UI"/>
              </a:rPr>
              <a:t>UI Products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542032"/>
            <a:ext cx="298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 spc="60">
                <a:solidFill>
                  <a:srgbClr val="0078D4"/>
                </a:solidFill>
                <a:latin typeface="Segoe UI"/>
              </a:rPr>
              <a:t>INTERACTIVE PROTOTYPING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926080"/>
            <a:ext cx="298704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605E5C"/>
                </a:solidFill>
                <a:latin typeface="Segoe UI"/>
              </a:rPr>
              <a:t>Clickable prototype in minutes; iterate live with the real stakeholder.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572000"/>
            <a:ext cx="298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8A8886"/>
                </a:solidFill>
                <a:latin typeface="Segoe UI"/>
              </a:rPr>
              <a:t>v0 · bolt.new · Claude Artifacts · Figma AI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5257800"/>
            <a:ext cx="3078480" cy="566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8" y="5312664"/>
            <a:ext cx="27127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100">
                <a:solidFill>
                  <a:srgbClr val="0078D4"/>
                </a:solidFill>
                <a:latin typeface="Segoe UI"/>
              </a:rPr>
              <a:t>OUTCOME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" y="5513832"/>
            <a:ext cx="2712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201F1E"/>
                </a:solidFill>
                <a:latin typeface="Segoe UI"/>
              </a:rPr>
              <a:t>Approved prototype + cycle log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58640" y="1828800"/>
            <a:ext cx="3444240" cy="4297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DF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58640" y="1828800"/>
            <a:ext cx="3444240" cy="73152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87240" y="2103120"/>
            <a:ext cx="298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201F1E"/>
                </a:solidFill>
                <a:latin typeface="Segoe UI"/>
              </a:rPr>
              <a:t>Services / APIs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87240" y="2542032"/>
            <a:ext cx="298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 spc="60">
                <a:solidFill>
                  <a:srgbClr val="0078D4"/>
                </a:solidFill>
                <a:latin typeface="Segoe UI"/>
              </a:rPr>
              <a:t>CONTRACT-FIRST PROTOTYPING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87240" y="2926080"/>
            <a:ext cx="298704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605E5C"/>
                </a:solidFill>
                <a:latin typeface="Segoe UI"/>
              </a:rPr>
              <a:t>Write the contract first, mock it, get real consumers integrating before real implementation.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87240" y="4572000"/>
            <a:ext cx="298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8A8886"/>
                </a:solidFill>
                <a:latin typeface="Segoe UI"/>
              </a:rPr>
              <a:t>OpenAPI/protobuf + Prism/WireMock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41520" y="5257800"/>
            <a:ext cx="3078480" cy="566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42688" y="5312664"/>
            <a:ext cx="27127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100">
                <a:solidFill>
                  <a:srgbClr val="0078D4"/>
                </a:solidFill>
                <a:latin typeface="Segoe UI"/>
              </a:rPr>
              <a:t>OUTCOME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42688" y="5513832"/>
            <a:ext cx="2712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201F1E"/>
                </a:solidFill>
                <a:latin typeface="Segoe UI"/>
              </a:rPr>
              <a:t>Signed-off contract + proven mock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77200" y="1828800"/>
            <a:ext cx="3444240" cy="4297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DF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077200" y="1828800"/>
            <a:ext cx="3444240" cy="73152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05800" y="2103120"/>
            <a:ext cx="298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201F1E"/>
                </a:solidFill>
                <a:latin typeface="Segoe UI"/>
              </a:rPr>
              <a:t>Protocol / Spec Pipelines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05800" y="2542032"/>
            <a:ext cx="298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 spc="60">
                <a:solidFill>
                  <a:srgbClr val="0078D4"/>
                </a:solidFill>
                <a:latin typeface="Segoe UI"/>
              </a:rPr>
              <a:t>SPEC-BY-EXAMPLE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05800" y="2926080"/>
            <a:ext cx="298704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605E5C"/>
                </a:solidFill>
                <a:latin typeface="Segoe UI"/>
              </a:rPr>
              <a:t>Generate input→output example pairs; the domain owner corrects specific examples fast.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05800" y="4572000"/>
            <a:ext cx="298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8A8886"/>
                </a:solidFill>
                <a:latin typeface="Segoe UI"/>
              </a:rPr>
              <a:t>Diff-generation tooling vs. source spec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60080" y="5257800"/>
            <a:ext cx="3078480" cy="566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61248" y="5312664"/>
            <a:ext cx="27127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100">
                <a:solidFill>
                  <a:srgbClr val="0078D4"/>
                </a:solidFill>
                <a:latin typeface="Segoe UI"/>
              </a:rPr>
              <a:t>OUTCOME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61248" y="5513832"/>
            <a:ext cx="2712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201F1E"/>
                </a:solidFill>
                <a:latin typeface="Segoe UI"/>
              </a:rPr>
              <a:t>Approved golden-example corpus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A8886"/>
                </a:solidFill>
                <a:latin typeface="Segoe UI"/>
              </a:rPr>
              <a:t>The AI Build Cycle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0" y="6473952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A8886"/>
                </a:solidFill>
                <a:latin typeface="Segoe UI"/>
              </a:rPr>
              <a:t>Step 2 · tracks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502920"/>
            <a:ext cx="566928" cy="566928"/>
          </a:xfrm>
          <a:prstGeom prst="ellipse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4572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100">
                <a:solidFill>
                  <a:srgbClr val="0078D4"/>
                </a:solidFill>
                <a:latin typeface="Segoe UI"/>
              </a:rPr>
              <a:t>SHARED STRUCTURE, FLAVORED CONTENT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713232"/>
            <a:ext cx="9601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201F1E"/>
                </a:solidFill>
                <a:latin typeface="Segoe UI"/>
              </a:rPr>
              <a:t>Design, Architecture &amp; Tech Docs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417320"/>
            <a:ext cx="10881360" cy="15240"/>
          </a:xfrm>
          <a:prstGeom prst="rect">
            <a:avLst/>
          </a:prstGeom>
          <a:solidFill>
            <a:srgbClr val="E1DF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00200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605E5C"/>
                </a:solidFill>
                <a:latin typeface="Segoe UI"/>
              </a:rPr>
              <a:t>Architecture stays the most human-owned phase — now informed by a validated Step 2 outcome.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514600"/>
            <a:ext cx="5303520" cy="2880360"/>
          </a:xfrm>
          <a:prstGeom prst="roundRect">
            <a:avLst>
              <a:gd name="adj" fmla="val 6000"/>
            </a:avLst>
          </a:prstGeom>
          <a:solidFill>
            <a:srgbClr val="DFF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679192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120">
                <a:solidFill>
                  <a:srgbClr val="0F7B0F"/>
                </a:solidFill>
                <a:latin typeface="Segoe UI"/>
              </a:rPr>
              <a:t>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3017520"/>
            <a:ext cx="4846320" cy="2240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900"/>
              </a:spcAft>
            </a:pPr>
            <a:r>
              <a:rPr sz="1300" b="1">
                <a:solidFill>
                  <a:srgbClr val="0F7B0F"/>
                </a:solidFill>
                <a:latin typeface="Segoe UI"/>
              </a:rPr>
              <a:t>›  </a:t>
            </a:r>
            <a:r>
              <a:rPr sz="1300">
                <a:solidFill>
                  <a:srgbClr val="201F1E"/>
                </a:solidFill>
                <a:latin typeface="Segoe UI"/>
              </a:rPr>
              <a:t>AI drafts options and a first-pass ADR; the human owns the trade-off.</a:t>
            </a:r>
          </a:p>
          <a:p>
            <a:pPr algn="l">
              <a:lnSpc>
                <a:spcPct val="118000"/>
              </a:lnSpc>
              <a:spcAft>
                <a:spcPts val="900"/>
              </a:spcAft>
            </a:pPr>
            <a:r>
              <a:rPr sz="1300" b="1">
                <a:solidFill>
                  <a:srgbClr val="0F7B0F"/>
                </a:solidFill>
                <a:latin typeface="Segoe UI"/>
              </a:rPr>
              <a:t>›  </a:t>
            </a:r>
            <a:r>
              <a:rPr sz="1300">
                <a:solidFill>
                  <a:srgbClr val="201F1E"/>
                </a:solidFill>
                <a:latin typeface="Segoe UI"/>
              </a:rPr>
              <a:t>Build the plan as Specify → Plan → Tasks, each with its own checkpoint.</a:t>
            </a:r>
          </a:p>
          <a:p>
            <a:pPr algn="l">
              <a:lnSpc>
                <a:spcPct val="118000"/>
              </a:lnSpc>
              <a:spcAft>
                <a:spcPts val="900"/>
              </a:spcAft>
            </a:pPr>
            <a:r>
              <a:rPr sz="1300" b="1">
                <a:solidFill>
                  <a:srgbClr val="0F7B0F"/>
                </a:solidFill>
                <a:latin typeface="Segoe UI"/>
              </a:rPr>
              <a:t>›  </a:t>
            </a:r>
            <a:r>
              <a:rPr sz="1300">
                <a:solidFill>
                  <a:srgbClr val="201F1E"/>
                </a:solidFill>
                <a:latin typeface="Segoe UI"/>
              </a:rPr>
              <a:t>Write the threat model here — Microsoft SDL treats it as a design artifact.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2514600"/>
            <a:ext cx="5303520" cy="2880360"/>
          </a:xfrm>
          <a:prstGeom prst="roundRect">
            <a:avLst>
              <a:gd name="adj" fmla="val 6000"/>
            </a:avLst>
          </a:prstGeom>
          <a:solidFill>
            <a:srgbClr val="FDE7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73952" y="2679192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120">
                <a:solidFill>
                  <a:srgbClr val="D83B01"/>
                </a:solidFill>
                <a:latin typeface="Segoe UI"/>
              </a:rPr>
              <a:t>DON'T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3952" y="3017520"/>
            <a:ext cx="4846320" cy="2240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900"/>
              </a:spcAft>
            </a:pPr>
            <a:r>
              <a:rPr sz="1300" b="1">
                <a:solidFill>
                  <a:srgbClr val="D83B01"/>
                </a:solidFill>
                <a:latin typeface="Segoe UI"/>
              </a:rPr>
              <a:t>›  </a:t>
            </a:r>
            <a:r>
              <a:rPr sz="1300">
                <a:solidFill>
                  <a:srgbClr val="201F1E"/>
                </a:solidFill>
                <a:latin typeface="Segoe UI"/>
              </a:rPr>
              <a:t>Delegate the actual trade-off decision to the model.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5623560"/>
            <a:ext cx="10881360" cy="566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" y="5678424"/>
            <a:ext cx="105156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100">
                <a:solidFill>
                  <a:srgbClr val="0078D4"/>
                </a:solidFill>
                <a:latin typeface="Segoe UI"/>
              </a:rPr>
              <a:t>OUTCOME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5879592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201F1E"/>
                </a:solidFill>
                <a:latin typeface="Segoe UI"/>
              </a:rPr>
              <a:t>Build-Ready Technical Package (architecture, ADRs, threat model, standards, build plan)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A8886"/>
                </a:solidFill>
                <a:latin typeface="Segoe UI"/>
              </a:rPr>
              <a:t>The AI Build Cycle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6473952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A8886"/>
                </a:solidFill>
                <a:latin typeface="Segoe UI"/>
              </a:rPr>
              <a:t>Step 3 of 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502920"/>
            <a:ext cx="566928" cy="566928"/>
          </a:xfrm>
          <a:prstGeom prst="ellipse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4572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100">
                <a:solidFill>
                  <a:srgbClr val="0078D4"/>
                </a:solidFill>
                <a:latin typeface="Segoe UI"/>
              </a:rPr>
              <a:t>NO TRACK DIFFERENCE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713232"/>
            <a:ext cx="9601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201F1E"/>
                </a:solidFill>
                <a:latin typeface="Segoe UI"/>
              </a:rPr>
              <a:t>Implementation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417320"/>
            <a:ext cx="10881360" cy="15240"/>
          </a:xfrm>
          <a:prstGeom prst="rect">
            <a:avLst/>
          </a:prstGeom>
          <a:solidFill>
            <a:srgbClr val="E1DF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00200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605E5C"/>
                </a:solidFill>
                <a:latin typeface="Segoe UI"/>
              </a:rPr>
              <a:t>Built sub-section by sub-section against the Step 3 task list. Small commits, human-reviewed.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514600"/>
            <a:ext cx="5303520" cy="2880360"/>
          </a:xfrm>
          <a:prstGeom prst="roundRect">
            <a:avLst>
              <a:gd name="adj" fmla="val 6000"/>
            </a:avLst>
          </a:prstGeom>
          <a:solidFill>
            <a:srgbClr val="DFF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679192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120">
                <a:solidFill>
                  <a:srgbClr val="0F7B0F"/>
                </a:solidFill>
                <a:latin typeface="Segoe UI"/>
              </a:rPr>
              <a:t>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3017520"/>
            <a:ext cx="4846320" cy="2240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900"/>
              </a:spcAft>
            </a:pPr>
            <a:r>
              <a:rPr sz="1300" b="1">
                <a:solidFill>
                  <a:srgbClr val="0F7B0F"/>
                </a:solidFill>
                <a:latin typeface="Segoe UI"/>
              </a:rPr>
              <a:t>›  </a:t>
            </a:r>
            <a:r>
              <a:rPr sz="1300">
                <a:solidFill>
                  <a:srgbClr val="201F1E"/>
                </a:solidFill>
                <a:latin typeface="Segoe UI"/>
              </a:rPr>
              <a:t>Maintain a harness file: stack, conventions, test commands, house rules.</a:t>
            </a:r>
          </a:p>
          <a:p>
            <a:pPr algn="l">
              <a:lnSpc>
                <a:spcPct val="118000"/>
              </a:lnSpc>
              <a:spcAft>
                <a:spcPts val="900"/>
              </a:spcAft>
            </a:pPr>
            <a:r>
              <a:rPr sz="1300" b="1">
                <a:solidFill>
                  <a:srgbClr val="0F7B0F"/>
                </a:solidFill>
                <a:latin typeface="Segoe UI"/>
              </a:rPr>
              <a:t>›  </a:t>
            </a:r>
            <a:r>
              <a:rPr sz="1300">
                <a:solidFill>
                  <a:srgbClr val="201F1E"/>
                </a:solidFill>
                <a:latin typeface="Segoe UI"/>
              </a:rPr>
              <a:t>Red/green TDD — tests confirmed failing before implementation.</a:t>
            </a:r>
          </a:p>
          <a:p>
            <a:pPr algn="l">
              <a:lnSpc>
                <a:spcPct val="118000"/>
              </a:lnSpc>
              <a:spcAft>
                <a:spcPts val="900"/>
              </a:spcAft>
            </a:pPr>
            <a:r>
              <a:rPr sz="1300" b="1">
                <a:solidFill>
                  <a:srgbClr val="0F7B0F"/>
                </a:solidFill>
                <a:latin typeface="Segoe UI"/>
              </a:rPr>
              <a:t>›  </a:t>
            </a:r>
            <a:r>
              <a:rPr sz="1300">
                <a:solidFill>
                  <a:srgbClr val="201F1E"/>
                </a:solidFill>
                <a:latin typeface="Segoe UI"/>
              </a:rPr>
              <a:t>Fresh-context second review pass on anything non-trivial.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2514600"/>
            <a:ext cx="5303520" cy="2880360"/>
          </a:xfrm>
          <a:prstGeom prst="roundRect">
            <a:avLst>
              <a:gd name="adj" fmla="val 6000"/>
            </a:avLst>
          </a:prstGeom>
          <a:solidFill>
            <a:srgbClr val="FDE7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73952" y="2679192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120">
                <a:solidFill>
                  <a:srgbClr val="D83B01"/>
                </a:solidFill>
                <a:latin typeface="Segoe UI"/>
              </a:rPr>
              <a:t>DON'T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3952" y="3017520"/>
            <a:ext cx="4846320" cy="2240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900"/>
              </a:spcAft>
            </a:pPr>
            <a:r>
              <a:rPr sz="1300" b="1">
                <a:solidFill>
                  <a:srgbClr val="D83B01"/>
                </a:solidFill>
                <a:latin typeface="Segoe UI"/>
              </a:rPr>
              <a:t>›  </a:t>
            </a:r>
            <a:r>
              <a:rPr sz="1300">
                <a:solidFill>
                  <a:srgbClr val="201F1E"/>
                </a:solidFill>
                <a:latin typeface="Segoe UI"/>
              </a:rPr>
              <a:t>Rubber-stamp because the diff looks clean.</a:t>
            </a:r>
          </a:p>
          <a:p>
            <a:pPr algn="l">
              <a:lnSpc>
                <a:spcPct val="118000"/>
              </a:lnSpc>
              <a:spcAft>
                <a:spcPts val="900"/>
              </a:spcAft>
            </a:pPr>
            <a:r>
              <a:rPr sz="1300" b="1">
                <a:solidFill>
                  <a:srgbClr val="D83B01"/>
                </a:solidFill>
                <a:latin typeface="Segoe UI"/>
              </a:rPr>
              <a:t>›  </a:t>
            </a:r>
            <a:r>
              <a:rPr sz="1300">
                <a:solidFill>
                  <a:srgbClr val="201F1E"/>
                </a:solidFill>
                <a:latin typeface="Segoe UI"/>
              </a:rPr>
              <a:t>Ignore it when AI makes you slower on code you know deeply (METR: 19% slower, felt 20% faster).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5623560"/>
            <a:ext cx="10881360" cy="566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" y="5678424"/>
            <a:ext cx="105156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100">
                <a:solidFill>
                  <a:srgbClr val="0078D4"/>
                </a:solidFill>
                <a:latin typeface="Segoe UI"/>
              </a:rPr>
              <a:t>OUTCOME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5879592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201F1E"/>
                </a:solidFill>
                <a:latin typeface="Segoe UI"/>
              </a:rPr>
              <a:t>Implementation Complete — All Tests Passing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A8886"/>
                </a:solidFill>
                <a:latin typeface="Segoe UI"/>
              </a:rPr>
              <a:t>The AI Build Cycle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6473952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A8886"/>
                </a:solidFill>
                <a:latin typeface="Segoe UI"/>
              </a:rPr>
              <a:t>Step 4 of 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502920"/>
            <a:ext cx="566928" cy="566928"/>
          </a:xfrm>
          <a:prstGeom prst="ellipse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4572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100">
                <a:solidFill>
                  <a:srgbClr val="0078D4"/>
                </a:solidFill>
                <a:latin typeface="Segoe UI"/>
              </a:rPr>
              <a:t>SHARED TAXONOMY, FLAVORED EMPHASIS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713232"/>
            <a:ext cx="9601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201F1E"/>
                </a:solidFill>
                <a:latin typeface="Segoe UI"/>
              </a:rPr>
              <a:t>Testing &amp; QA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417320"/>
            <a:ext cx="10881360" cy="15240"/>
          </a:xfrm>
          <a:prstGeom prst="rect">
            <a:avLst/>
          </a:prstGeom>
          <a:solidFill>
            <a:srgbClr val="E1DF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00200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605E5C"/>
                </a:solidFill>
                <a:latin typeface="Segoe UI"/>
              </a:rPr>
              <a:t>Tests become the mechanism you steer the agent with — weighted by track, not applied uniformly.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514600"/>
            <a:ext cx="5303520" cy="2880360"/>
          </a:xfrm>
          <a:prstGeom prst="roundRect">
            <a:avLst>
              <a:gd name="adj" fmla="val 6000"/>
            </a:avLst>
          </a:prstGeom>
          <a:solidFill>
            <a:srgbClr val="DFF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679192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120">
                <a:solidFill>
                  <a:srgbClr val="0F7B0F"/>
                </a:solidFill>
                <a:latin typeface="Segoe UI"/>
              </a:rPr>
              <a:t>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3017520"/>
            <a:ext cx="4846320" cy="2240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900"/>
              </a:spcAft>
            </a:pPr>
            <a:r>
              <a:rPr sz="1300" b="1">
                <a:solidFill>
                  <a:srgbClr val="0F7B0F"/>
                </a:solidFill>
                <a:latin typeface="Segoe UI"/>
              </a:rPr>
              <a:t>›  </a:t>
            </a:r>
            <a:r>
              <a:rPr sz="1300">
                <a:solidFill>
                  <a:srgbClr val="201F1E"/>
                </a:solidFill>
                <a:latin typeface="Segoe UI"/>
              </a:rPr>
              <a:t>Fuzzing matters for protocol parsers; accessibility matters for UI.</a:t>
            </a:r>
          </a:p>
          <a:p>
            <a:pPr algn="l">
              <a:lnSpc>
                <a:spcPct val="118000"/>
              </a:lnSpc>
              <a:spcAft>
                <a:spcPts val="900"/>
              </a:spcAft>
            </a:pPr>
            <a:r>
              <a:rPr sz="1300" b="1">
                <a:solidFill>
                  <a:srgbClr val="0F7B0F"/>
                </a:solidFill>
                <a:latin typeface="Segoe UI"/>
              </a:rPr>
              <a:t>›  </a:t>
            </a:r>
            <a:r>
              <a:rPr sz="1300">
                <a:solidFill>
                  <a:srgbClr val="201F1E"/>
                </a:solidFill>
                <a:latin typeface="Segoe UI"/>
              </a:rPr>
              <a:t>Live Verify: the agent runs the written smoke-test script itself (Chrome MCP for UI), alongside human testing.</a:t>
            </a:r>
          </a:p>
          <a:p>
            <a:pPr algn="l">
              <a:lnSpc>
                <a:spcPct val="118000"/>
              </a:lnSpc>
              <a:spcAft>
                <a:spcPts val="900"/>
              </a:spcAft>
            </a:pPr>
            <a:r>
              <a:rPr sz="1300" b="1">
                <a:solidFill>
                  <a:srgbClr val="0F7B0F"/>
                </a:solidFill>
                <a:latin typeface="Segoe UI"/>
              </a:rPr>
              <a:t>›  </a:t>
            </a:r>
            <a:r>
              <a:rPr sz="1300">
                <a:solidFill>
                  <a:srgbClr val="201F1E"/>
                </a:solidFill>
                <a:latin typeface="Segoe UI"/>
              </a:rPr>
              <a:t>Scan every change for dependency/secret risk — ~20% of AI-suggested packages don’t exist.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2514600"/>
            <a:ext cx="5303520" cy="2880360"/>
          </a:xfrm>
          <a:prstGeom prst="roundRect">
            <a:avLst>
              <a:gd name="adj" fmla="val 6000"/>
            </a:avLst>
          </a:prstGeom>
          <a:solidFill>
            <a:srgbClr val="FDE7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73952" y="2679192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120">
                <a:solidFill>
                  <a:srgbClr val="D83B01"/>
                </a:solidFill>
                <a:latin typeface="Segoe UI"/>
              </a:rPr>
              <a:t>DON'T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3952" y="3017520"/>
            <a:ext cx="4846320" cy="2240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900"/>
              </a:spcAft>
            </a:pPr>
            <a:r>
              <a:rPr sz="1300" b="1">
                <a:solidFill>
                  <a:srgbClr val="D83B01"/>
                </a:solidFill>
                <a:latin typeface="Segoe UI"/>
              </a:rPr>
              <a:t>›  </a:t>
            </a:r>
            <a:r>
              <a:rPr sz="1300">
                <a:solidFill>
                  <a:srgbClr val="201F1E"/>
                </a:solidFill>
                <a:latin typeface="Segoe UI"/>
              </a:rPr>
              <a:t>Accept a mocked integration test without asking why.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5623560"/>
            <a:ext cx="10881360" cy="566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" y="5678424"/>
            <a:ext cx="105156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100">
                <a:solidFill>
                  <a:srgbClr val="0078D4"/>
                </a:solidFill>
                <a:latin typeface="Segoe UI"/>
              </a:rPr>
              <a:t>OUTCOME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5879592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201F1E"/>
                </a:solidFill>
                <a:latin typeface="Segoe UI"/>
              </a:rPr>
              <a:t>Test &amp; Quality Report (incl. agent Live Verify)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A8886"/>
                </a:solidFill>
                <a:latin typeface="Segoe UI"/>
              </a:rPr>
              <a:t>The AI Build Cycle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6473952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A8886"/>
                </a:solidFill>
                <a:latin typeface="Segoe UI"/>
              </a:rPr>
              <a:t>Step 5 of 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502920"/>
            <a:ext cx="566928" cy="566928"/>
          </a:xfrm>
          <a:prstGeom prst="ellipse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4572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100">
                <a:solidFill>
                  <a:srgbClr val="0078D4"/>
                </a:solidFill>
                <a:latin typeface="Segoe UI"/>
              </a:rPr>
              <a:t>SHARED GATE, FLAVORED MEANING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713232"/>
            <a:ext cx="9601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201F1E"/>
                </a:solidFill>
                <a:latin typeface="Segoe UI"/>
              </a:rPr>
              <a:t>Dog Fooding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417320"/>
            <a:ext cx="10881360" cy="15240"/>
          </a:xfrm>
          <a:prstGeom prst="rect">
            <a:avLst/>
          </a:prstGeom>
          <a:solidFill>
            <a:srgbClr val="E1DF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00200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605E5C"/>
                </a:solidFill>
                <a:latin typeface="Segoe UI"/>
              </a:rPr>
              <a:t>Internal usage before wider release — the release mechanism in this model.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514600"/>
            <a:ext cx="5303520" cy="2880360"/>
          </a:xfrm>
          <a:prstGeom prst="roundRect">
            <a:avLst>
              <a:gd name="adj" fmla="val 6000"/>
            </a:avLst>
          </a:prstGeom>
          <a:solidFill>
            <a:srgbClr val="DFF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679192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120">
                <a:solidFill>
                  <a:srgbClr val="0F7B0F"/>
                </a:solidFill>
                <a:latin typeface="Segoe UI"/>
              </a:rPr>
              <a:t>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3017520"/>
            <a:ext cx="4846320" cy="2240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900"/>
              </a:spcAft>
            </a:pPr>
            <a:r>
              <a:rPr sz="1300" b="1">
                <a:solidFill>
                  <a:srgbClr val="0F7B0F"/>
                </a:solidFill>
                <a:latin typeface="Segoe UI"/>
              </a:rPr>
              <a:t>›  </a:t>
            </a:r>
            <a:r>
              <a:rPr sz="1300">
                <a:solidFill>
                  <a:srgbClr val="201F1E"/>
                </a:solidFill>
                <a:latin typeface="Segoe UI"/>
              </a:rPr>
              <a:t>Define a real exit gate: telemetry threshold + feedback triage (can be AI-assisted).</a:t>
            </a:r>
          </a:p>
          <a:p>
            <a:pPr algn="l">
              <a:lnSpc>
                <a:spcPct val="118000"/>
              </a:lnSpc>
              <a:spcAft>
                <a:spcPts val="900"/>
              </a:spcAft>
            </a:pPr>
            <a:r>
              <a:rPr sz="1300" b="1">
                <a:solidFill>
                  <a:srgbClr val="0F7B0F"/>
                </a:solidFill>
                <a:latin typeface="Segoe UI"/>
              </a:rPr>
              <a:t>›  </a:t>
            </a:r>
            <a:r>
              <a:rPr sz="1300">
                <a:solidFill>
                  <a:srgbClr val="201F1E"/>
                </a:solidFill>
                <a:latin typeface="Segoe UI"/>
              </a:rPr>
              <a:t>Microsoft’s Outlook triage team: +40% accuracy from fixing data/process before dogfooding the AI.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2514600"/>
            <a:ext cx="5303520" cy="2880360"/>
          </a:xfrm>
          <a:prstGeom prst="roundRect">
            <a:avLst>
              <a:gd name="adj" fmla="val 6000"/>
            </a:avLst>
          </a:prstGeom>
          <a:solidFill>
            <a:srgbClr val="FDE7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73952" y="2679192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120">
                <a:solidFill>
                  <a:srgbClr val="D83B01"/>
                </a:solidFill>
                <a:latin typeface="Segoe UI"/>
              </a:rPr>
              <a:t>DON'T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3952" y="3017520"/>
            <a:ext cx="4846320" cy="2240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900"/>
              </a:spcAft>
            </a:pPr>
            <a:r>
              <a:rPr sz="1300" b="1">
                <a:solidFill>
                  <a:srgbClr val="D83B01"/>
                </a:solidFill>
                <a:latin typeface="Segoe UI"/>
              </a:rPr>
              <a:t>›  </a:t>
            </a:r>
            <a:r>
              <a:rPr sz="1300">
                <a:solidFill>
                  <a:srgbClr val="201F1E"/>
                </a:solidFill>
                <a:latin typeface="Segoe UI"/>
              </a:rPr>
              <a:t>Skip this step for changes that “feel too small to bother.”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5623560"/>
            <a:ext cx="10881360" cy="566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" y="5678424"/>
            <a:ext cx="105156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100">
                <a:solidFill>
                  <a:srgbClr val="0078D4"/>
                </a:solidFill>
                <a:latin typeface="Segoe UI"/>
              </a:rPr>
              <a:t>OUTCOME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5879592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201F1E"/>
                </a:solidFill>
                <a:latin typeface="Segoe UI"/>
              </a:rPr>
              <a:t>Dogfood Exit Report — usage vs. threshold, explicit go/no-go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A8886"/>
                </a:solidFill>
                <a:latin typeface="Segoe UI"/>
              </a:rPr>
              <a:t>The AI Build Cycle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6473952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A8886"/>
                </a:solidFill>
                <a:latin typeface="Segoe UI"/>
              </a:rPr>
              <a:t>Step 6 of 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502920"/>
            <a:ext cx="566928" cy="566928"/>
          </a:xfrm>
          <a:prstGeom prst="ellipse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FFFFFF"/>
                </a:solidFill>
                <a:latin typeface="Segoe UI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4572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100">
                <a:solidFill>
                  <a:srgbClr val="0078D4"/>
                </a:solidFill>
                <a:latin typeface="Segoe UI"/>
              </a:rPr>
              <a:t>NO TRACK DIFFERENCE · CONTINUOUS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713232"/>
            <a:ext cx="9601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201F1E"/>
                </a:solidFill>
                <a:latin typeface="Segoe UI"/>
              </a:rPr>
              <a:t>Maintenance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417320"/>
            <a:ext cx="10881360" cy="15240"/>
          </a:xfrm>
          <a:prstGeom prst="rect">
            <a:avLst/>
          </a:prstGeom>
          <a:solidFill>
            <a:srgbClr val="E1DF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00200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605E5C"/>
                </a:solidFill>
                <a:latin typeface="Segoe UI"/>
              </a:rPr>
              <a:t>The most underrated step. This is the one outcome that isn’t produced once — it stays true.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514600"/>
            <a:ext cx="5303520" cy="2880360"/>
          </a:xfrm>
          <a:prstGeom prst="roundRect">
            <a:avLst>
              <a:gd name="adj" fmla="val 6000"/>
            </a:avLst>
          </a:prstGeom>
          <a:solidFill>
            <a:srgbClr val="DFF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679192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120">
                <a:solidFill>
                  <a:srgbClr val="0F7B0F"/>
                </a:solidFill>
                <a:latin typeface="Segoe UI"/>
              </a:rPr>
              <a:t>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3017520"/>
            <a:ext cx="4846320" cy="2240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900"/>
              </a:spcAft>
            </a:pPr>
            <a:r>
              <a:rPr sz="1300" b="1">
                <a:solidFill>
                  <a:srgbClr val="0F7B0F"/>
                </a:solidFill>
                <a:latin typeface="Segoe UI"/>
              </a:rPr>
              <a:t>›  </a:t>
            </a:r>
            <a:r>
              <a:rPr sz="1300">
                <a:solidFill>
                  <a:srgbClr val="201F1E"/>
                </a:solidFill>
                <a:latin typeface="Segoe UI"/>
              </a:rPr>
              <a:t>Point AI at legacy modernization, dependency upgrades, deprecation cleanup.</a:t>
            </a:r>
          </a:p>
          <a:p>
            <a:pPr algn="l">
              <a:lnSpc>
                <a:spcPct val="118000"/>
              </a:lnSpc>
              <a:spcAft>
                <a:spcPts val="900"/>
              </a:spcAft>
            </a:pPr>
            <a:r>
              <a:rPr sz="1300" b="1">
                <a:solidFill>
                  <a:srgbClr val="0F7B0F"/>
                </a:solidFill>
                <a:latin typeface="Segoe UI"/>
              </a:rPr>
              <a:t>›  </a:t>
            </a:r>
            <a:r>
              <a:rPr sz="1300">
                <a:solidFill>
                  <a:srgbClr val="201F1E"/>
                </a:solidFill>
                <a:latin typeface="Segoe UI"/>
              </a:rPr>
              <a:t>Use AI to accelerate incident investigation (Ramp: –80% investigation time).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2514600"/>
            <a:ext cx="5303520" cy="2880360"/>
          </a:xfrm>
          <a:prstGeom prst="roundRect">
            <a:avLst>
              <a:gd name="adj" fmla="val 6000"/>
            </a:avLst>
          </a:prstGeom>
          <a:solidFill>
            <a:srgbClr val="FDE7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73952" y="2679192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120">
                <a:solidFill>
                  <a:srgbClr val="D83B01"/>
                </a:solidFill>
                <a:latin typeface="Segoe UI"/>
              </a:rPr>
              <a:t>DON'T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3952" y="3017520"/>
            <a:ext cx="4846320" cy="2240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900"/>
              </a:spcAft>
            </a:pPr>
            <a:r>
              <a:rPr sz="1300" b="1">
                <a:solidFill>
                  <a:srgbClr val="D83B01"/>
                </a:solidFill>
                <a:latin typeface="Segoe UI"/>
              </a:rPr>
              <a:t>›  </a:t>
            </a:r>
            <a:r>
              <a:rPr sz="1300">
                <a:solidFill>
                  <a:srgbClr val="201F1E"/>
                </a:solidFill>
                <a:latin typeface="Segoe UI"/>
              </a:rPr>
              <a:t>Point autonomous agents at production incident response unsupervised.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5623560"/>
            <a:ext cx="10881360" cy="566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" y="5678424"/>
            <a:ext cx="105156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100">
                <a:solidFill>
                  <a:srgbClr val="0078D4"/>
                </a:solidFill>
                <a:latin typeface="Segoe UI"/>
              </a:rPr>
              <a:t>OUTCOME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5879592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201F1E"/>
                </a:solidFill>
                <a:latin typeface="Segoe UI"/>
              </a:rPr>
              <a:t>Living System Record (continuous)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A8886"/>
                </a:solidFill>
                <a:latin typeface="Segoe UI"/>
              </a:rPr>
              <a:t>The AI Build Cycle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6473952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A8886"/>
                </a:solidFill>
                <a:latin typeface="Segoe UI"/>
              </a:rPr>
              <a:t>Step 7 of 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 spc="120">
                <a:solidFill>
                  <a:srgbClr val="0078D4"/>
                </a:solidFill>
                <a:latin typeface="Segoe UI"/>
              </a:rPr>
              <a:t>CROSS-CUTTING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04672"/>
            <a:ext cx="502920" cy="2794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201F1E"/>
                </a:solidFill>
                <a:latin typeface="Segoe UI"/>
              </a:rPr>
              <a:t>Security &amp; governance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042416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2000"/>
              </a:spcAft>
            </a:pPr>
            <a:r>
              <a:rPr sz="1650" b="1">
                <a:solidFill>
                  <a:srgbClr val="0078D4"/>
                </a:solidFill>
                <a:latin typeface="Segoe UI"/>
              </a:rPr>
              <a:t>›  </a:t>
            </a:r>
            <a:r>
              <a:rPr sz="1650">
                <a:solidFill>
                  <a:srgbClr val="201F1E"/>
                </a:solidFill>
                <a:latin typeface="Segoe UI"/>
              </a:rPr>
              <a:t>Write a security-focused harness file — input validation, secrets policy, OWASP ASVS pointer.</a:t>
            </a:r>
          </a:p>
          <a:p>
            <a:pPr algn="l">
              <a:lnSpc>
                <a:spcPct val="118000"/>
              </a:lnSpc>
              <a:spcAft>
                <a:spcPts val="2000"/>
              </a:spcAft>
            </a:pPr>
            <a:r>
              <a:rPr sz="1650" b="1">
                <a:solidFill>
                  <a:srgbClr val="0078D4"/>
                </a:solidFill>
                <a:latin typeface="Segoe UI"/>
              </a:rPr>
              <a:t>›  </a:t>
            </a:r>
            <a:r>
              <a:rPr sz="1650">
                <a:solidFill>
                  <a:srgbClr val="201F1E"/>
                </a:solidFill>
                <a:latin typeface="Segoe UI"/>
              </a:rPr>
              <a:t>Avoid persona prompts (“act as a security expert”) — research shows this makes output worse.</a:t>
            </a:r>
          </a:p>
          <a:p>
            <a:pPr algn="l">
              <a:lnSpc>
                <a:spcPct val="118000"/>
              </a:lnSpc>
              <a:spcAft>
                <a:spcPts val="2000"/>
              </a:spcAft>
            </a:pPr>
            <a:r>
              <a:rPr sz="1650" b="1">
                <a:solidFill>
                  <a:srgbClr val="0078D4"/>
                </a:solidFill>
                <a:latin typeface="Segoe UI"/>
              </a:rPr>
              <a:t>›  </a:t>
            </a:r>
            <a:r>
              <a:rPr sz="1650">
                <a:solidFill>
                  <a:srgbClr val="201F1E"/>
                </a:solidFill>
                <a:latin typeface="Segoe UI"/>
              </a:rPr>
              <a:t>The developer is accountable, not the tool — whoever commits owns correctness and security.</a:t>
            </a:r>
          </a:p>
          <a:p>
            <a:pPr algn="l">
              <a:lnSpc>
                <a:spcPct val="118000"/>
              </a:lnSpc>
              <a:spcAft>
                <a:spcPts val="2000"/>
              </a:spcAft>
            </a:pPr>
            <a:r>
              <a:rPr sz="1650" b="1">
                <a:solidFill>
                  <a:srgbClr val="0078D4"/>
                </a:solidFill>
                <a:latin typeface="Segoe UI"/>
              </a:rPr>
              <a:t>›  </a:t>
            </a:r>
            <a:r>
              <a:rPr sz="1650">
                <a:solidFill>
                  <a:srgbClr val="201F1E"/>
                </a:solidFill>
                <a:latin typeface="Segoe UI"/>
              </a:rPr>
              <a:t>Have an actual tool policy — approved assistants, data access, a named owner.</a:t>
            </a:r>
          </a:p>
          <a:p>
            <a:pPr algn="l">
              <a:lnSpc>
                <a:spcPct val="118000"/>
              </a:lnSpc>
              <a:spcAft>
                <a:spcPts val="2000"/>
              </a:spcAft>
            </a:pPr>
            <a:r>
              <a:rPr sz="1650" b="1">
                <a:solidFill>
                  <a:srgbClr val="0078D4"/>
                </a:solidFill>
                <a:latin typeface="Segoe UI"/>
              </a:rPr>
              <a:t>›  </a:t>
            </a:r>
            <a:r>
              <a:rPr sz="1650">
                <a:solidFill>
                  <a:srgbClr val="201F1E"/>
                </a:solidFill>
                <a:latin typeface="Segoe UI"/>
              </a:rPr>
              <a:t>Keep an audit trail for agentic work — what the agent did and why, not just the diff.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A8886"/>
                </a:solidFill>
                <a:latin typeface="Segoe UI"/>
              </a:rPr>
              <a:t>The AI Build Cycle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473952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A8886"/>
                </a:solidFill>
                <a:latin typeface="Segoe UI"/>
              </a:rPr>
              <a:t>Security &amp; governance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 spc="120">
                <a:solidFill>
                  <a:srgbClr val="0078D4"/>
                </a:solidFill>
                <a:latin typeface="Segoe UI"/>
              </a:rPr>
              <a:t>CROSS-CUTTING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04672"/>
            <a:ext cx="502920" cy="2794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201F1E"/>
                </a:solidFill>
                <a:latin typeface="Segoe UI"/>
              </a:rPr>
              <a:t>What to measure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10424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605E5C"/>
                </a:solidFill>
                <a:latin typeface="Segoe UI"/>
              </a:rPr>
              <a:t>Not lines of code. Not % of AI-authored commits — both reward volume over judgment.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31720"/>
            <a:ext cx="1042416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2000"/>
              </a:spcAft>
            </a:pPr>
            <a:r>
              <a:rPr sz="1650" b="1">
                <a:solidFill>
                  <a:srgbClr val="0078D4"/>
                </a:solidFill>
                <a:latin typeface="Segoe UI"/>
              </a:rPr>
              <a:t>›  </a:t>
            </a:r>
            <a:r>
              <a:rPr sz="1650">
                <a:solidFill>
                  <a:srgbClr val="201F1E"/>
                </a:solidFill>
                <a:latin typeface="Segoe UI"/>
              </a:rPr>
              <a:t>DORA four keys — deployment frequency, lead time, change failure rate, MTTR.</a:t>
            </a:r>
          </a:p>
          <a:p>
            <a:pPr algn="l">
              <a:lnSpc>
                <a:spcPct val="118000"/>
              </a:lnSpc>
              <a:spcAft>
                <a:spcPts val="2000"/>
              </a:spcAft>
            </a:pPr>
            <a:r>
              <a:rPr sz="1650" b="1">
                <a:solidFill>
                  <a:srgbClr val="0078D4"/>
                </a:solidFill>
                <a:latin typeface="Segoe UI"/>
              </a:rPr>
              <a:t>›  </a:t>
            </a:r>
            <a:r>
              <a:rPr sz="1650">
                <a:solidFill>
                  <a:srgbClr val="201F1E"/>
                </a:solidFill>
                <a:latin typeface="Segoe UI"/>
              </a:rPr>
              <a:t>Escaped defect rate: AI-touched vs. human-only changes, tracked quarterly.</a:t>
            </a:r>
          </a:p>
          <a:p>
            <a:pPr algn="l">
              <a:lnSpc>
                <a:spcPct val="118000"/>
              </a:lnSpc>
              <a:spcAft>
                <a:spcPts val="2000"/>
              </a:spcAft>
            </a:pPr>
            <a:r>
              <a:rPr sz="1650" b="1">
                <a:solidFill>
                  <a:srgbClr val="0078D4"/>
                </a:solidFill>
                <a:latin typeface="Segoe UI"/>
              </a:rPr>
              <a:t>›  </a:t>
            </a:r>
            <a:r>
              <a:rPr sz="1650">
                <a:solidFill>
                  <a:srgbClr val="201F1E"/>
                </a:solidFill>
                <a:latin typeface="Segoe UI"/>
              </a:rPr>
              <a:t>Perceived vs. actual velocity, sanity-checked — METR: felt faster, measurably slower.</a:t>
            </a:r>
          </a:p>
          <a:p>
            <a:pPr algn="l">
              <a:lnSpc>
                <a:spcPct val="118000"/>
              </a:lnSpc>
              <a:spcAft>
                <a:spcPts val="2000"/>
              </a:spcAft>
            </a:pPr>
            <a:r>
              <a:rPr sz="1650" b="1">
                <a:solidFill>
                  <a:srgbClr val="0078D4"/>
                </a:solidFill>
                <a:latin typeface="Segoe UI"/>
              </a:rPr>
              <a:t>›  </a:t>
            </a:r>
            <a:r>
              <a:rPr sz="1650">
                <a:solidFill>
                  <a:srgbClr val="201F1E"/>
                </a:solidFill>
                <a:latin typeface="Segoe UI"/>
              </a:rPr>
              <a:t>Team well-being, not just throughput.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A8886"/>
                </a:solidFill>
                <a:latin typeface="Segoe UI"/>
              </a:rPr>
              <a:t>The AI Build Cycle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6473952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A8886"/>
                </a:solidFill>
                <a:latin typeface="Segoe UI"/>
              </a:rPr>
              <a:t>What to measure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 spc="120">
                <a:solidFill>
                  <a:srgbClr val="D83B01"/>
                </a:solidFill>
                <a:latin typeface="Segoe UI"/>
              </a:rPr>
              <a:t>GUARDRAILS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04672"/>
            <a:ext cx="502920" cy="27940"/>
          </a:xfrm>
          <a:prstGeom prst="rect">
            <a:avLst/>
          </a:prstGeom>
          <a:solidFill>
            <a:srgbClr val="D83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201F1E"/>
                </a:solidFill>
                <a:latin typeface="Segoe UI"/>
              </a:rPr>
              <a:t>Anti-patterns to avoid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5257800" cy="960120"/>
          </a:xfrm>
          <a:prstGeom prst="roundRect">
            <a:avLst>
              <a:gd name="adj" fmla="val 6000"/>
            </a:avLst>
          </a:prstGeom>
          <a:solidFill>
            <a:srgbClr val="FDE7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83080"/>
            <a:ext cx="73152" cy="960120"/>
          </a:xfrm>
          <a:prstGeom prst="rect">
            <a:avLst/>
          </a:prstGeom>
          <a:solidFill>
            <a:srgbClr val="D83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83080"/>
            <a:ext cx="480060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201F1E"/>
                </a:solidFill>
                <a:latin typeface="Segoe UI"/>
              </a:rPr>
              <a:t>Vibe coding in production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783080"/>
            <a:ext cx="5257800" cy="960120"/>
          </a:xfrm>
          <a:prstGeom prst="roundRect">
            <a:avLst>
              <a:gd name="adj" fmla="val 6000"/>
            </a:avLst>
          </a:prstGeom>
          <a:solidFill>
            <a:srgbClr val="FDE7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783080"/>
            <a:ext cx="73152" cy="960120"/>
          </a:xfrm>
          <a:prstGeom prst="rect">
            <a:avLst/>
          </a:prstGeom>
          <a:solidFill>
            <a:srgbClr val="D83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1783080"/>
            <a:ext cx="480060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201F1E"/>
                </a:solidFill>
                <a:latin typeface="Segoe UI"/>
              </a:rPr>
              <a:t>Skipping the Step 2 loop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971800"/>
            <a:ext cx="5257800" cy="960120"/>
          </a:xfrm>
          <a:prstGeom prst="roundRect">
            <a:avLst>
              <a:gd name="adj" fmla="val 6000"/>
            </a:avLst>
          </a:prstGeom>
          <a:solidFill>
            <a:srgbClr val="FDE7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2971800"/>
            <a:ext cx="73152" cy="960120"/>
          </a:xfrm>
          <a:prstGeom prst="rect">
            <a:avLst/>
          </a:prstGeom>
          <a:solidFill>
            <a:srgbClr val="D83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971800"/>
            <a:ext cx="480060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201F1E"/>
                </a:solidFill>
                <a:latin typeface="Segoe UI"/>
              </a:rPr>
              <a:t>The approval rubber-stamp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2971800"/>
            <a:ext cx="5257800" cy="960120"/>
          </a:xfrm>
          <a:prstGeom prst="roundRect">
            <a:avLst>
              <a:gd name="adj" fmla="val 6000"/>
            </a:avLst>
          </a:prstGeom>
          <a:solidFill>
            <a:srgbClr val="FDE7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63640" y="2971800"/>
            <a:ext cx="73152" cy="960120"/>
          </a:xfrm>
          <a:prstGeom prst="rect">
            <a:avLst/>
          </a:prstGeom>
          <a:solidFill>
            <a:srgbClr val="D83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7960" y="2971800"/>
            <a:ext cx="480060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201F1E"/>
                </a:solidFill>
                <a:latin typeface="Segoe UI"/>
              </a:rPr>
              <a:t>Delegating architecture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160520"/>
            <a:ext cx="5257800" cy="960120"/>
          </a:xfrm>
          <a:prstGeom prst="roundRect">
            <a:avLst>
              <a:gd name="adj" fmla="val 6000"/>
            </a:avLst>
          </a:prstGeom>
          <a:solidFill>
            <a:srgbClr val="FDE7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4160520"/>
            <a:ext cx="73152" cy="960120"/>
          </a:xfrm>
          <a:prstGeom prst="rect">
            <a:avLst/>
          </a:prstGeom>
          <a:solidFill>
            <a:srgbClr val="D83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160520"/>
            <a:ext cx="480060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201F1E"/>
                </a:solidFill>
                <a:latin typeface="Segoe UI"/>
              </a:rPr>
              <a:t>Mocked tests as real verification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4160520"/>
            <a:ext cx="5257800" cy="960120"/>
          </a:xfrm>
          <a:prstGeom prst="roundRect">
            <a:avLst>
              <a:gd name="adj" fmla="val 6000"/>
            </a:avLst>
          </a:prstGeom>
          <a:solidFill>
            <a:srgbClr val="FDE7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63640" y="4160520"/>
            <a:ext cx="73152" cy="960120"/>
          </a:xfrm>
          <a:prstGeom prst="rect">
            <a:avLst/>
          </a:prstGeom>
          <a:solidFill>
            <a:srgbClr val="D83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37960" y="4160520"/>
            <a:ext cx="480060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201F1E"/>
                </a:solidFill>
                <a:latin typeface="Segoe UI"/>
              </a:rPr>
              <a:t>Treating Dog Fooding as optional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349240"/>
            <a:ext cx="5257800" cy="960120"/>
          </a:xfrm>
          <a:prstGeom prst="roundRect">
            <a:avLst>
              <a:gd name="adj" fmla="val 6000"/>
            </a:avLst>
          </a:prstGeom>
          <a:solidFill>
            <a:srgbClr val="FDE7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" y="5349240"/>
            <a:ext cx="73152" cy="960120"/>
          </a:xfrm>
          <a:prstGeom prst="rect">
            <a:avLst/>
          </a:prstGeom>
          <a:solidFill>
            <a:srgbClr val="D83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5349240"/>
            <a:ext cx="480060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201F1E"/>
                </a:solidFill>
                <a:latin typeface="Segoe UI"/>
              </a:rPr>
              <a:t>Tool sprawl without a policy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63640" y="5349240"/>
            <a:ext cx="5257800" cy="960120"/>
          </a:xfrm>
          <a:prstGeom prst="roundRect">
            <a:avLst>
              <a:gd name="adj" fmla="val 6000"/>
            </a:avLst>
          </a:prstGeom>
          <a:solidFill>
            <a:srgbClr val="FDE7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63640" y="5349240"/>
            <a:ext cx="73152" cy="960120"/>
          </a:xfrm>
          <a:prstGeom prst="rect">
            <a:avLst/>
          </a:prstGeom>
          <a:solidFill>
            <a:srgbClr val="D83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37960" y="5349240"/>
            <a:ext cx="480060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201F1E"/>
                </a:solidFill>
                <a:latin typeface="Segoe UI"/>
              </a:rPr>
              <a:t>Measuring only speed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A8886"/>
                </a:solidFill>
                <a:latin typeface="Segoe UI"/>
              </a:rPr>
              <a:t>The AI Build Cycle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0" y="6473952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A8886"/>
                </a:solidFill>
                <a:latin typeface="Segoe UI"/>
              </a:rPr>
              <a:t>Anti-patterns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 spc="120">
                <a:solidFill>
                  <a:srgbClr val="0078D4"/>
                </a:solidFill>
                <a:latin typeface="Segoe UI"/>
              </a:rPr>
              <a:t>QUICK REFERENCE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04672"/>
            <a:ext cx="502920" cy="2794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201F1E"/>
                </a:solidFill>
                <a:latin typeface="Segoe UI"/>
              </a:rPr>
              <a:t>The one-page version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1828800"/>
            <a:ext cx="329184" cy="329184"/>
          </a:xfrm>
          <a:prstGeom prst="ellipse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837944"/>
            <a:ext cx="48006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201F1E"/>
                </a:solidFill>
                <a:latin typeface="Segoe UI"/>
              </a:rPr>
              <a:t>Match verification effort to what’s at stake.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2670048"/>
            <a:ext cx="329184" cy="329184"/>
          </a:xfrm>
          <a:prstGeom prst="ellipse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670048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679192"/>
            <a:ext cx="48006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201F1E"/>
                </a:solidFill>
                <a:latin typeface="Segoe UI"/>
              </a:rPr>
              <a:t>Fix engineering foundations before scaling AI usage.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3511296"/>
            <a:ext cx="329184" cy="329184"/>
          </a:xfrm>
          <a:prstGeom prst="ellipse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511296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520440"/>
            <a:ext cx="48006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201F1E"/>
                </a:solidFill>
                <a:latin typeface="Segoe UI"/>
              </a:rPr>
              <a:t>Step 1 always ends in a written Requirements Document.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" y="4352544"/>
            <a:ext cx="329184" cy="329184"/>
          </a:xfrm>
          <a:prstGeom prst="ellipse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352544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361688"/>
            <a:ext cx="48006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201F1E"/>
                </a:solidFill>
                <a:latin typeface="Segoe UI"/>
              </a:rPr>
              <a:t>Step 2 is a loop — mechanism depends on the track.</a:t>
            </a:r>
          </a:p>
        </p:txBody>
      </p:sp>
      <p:sp>
        <p:nvSpPr>
          <p:cNvPr id="18" name="Oval 17"/>
          <p:cNvSpPr/>
          <p:nvPr/>
        </p:nvSpPr>
        <p:spPr>
          <a:xfrm>
            <a:off x="640080" y="5193792"/>
            <a:ext cx="329184" cy="329184"/>
          </a:xfrm>
          <a:prstGeom prst="ellipse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193792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5202936"/>
            <a:ext cx="48006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201F1E"/>
                </a:solidFill>
                <a:latin typeface="Segoe UI"/>
              </a:rPr>
              <a:t>Step 3’s package is what Step 4 works from — never skip it.</a:t>
            </a:r>
          </a:p>
        </p:txBody>
      </p:sp>
      <p:sp>
        <p:nvSpPr>
          <p:cNvPr id="21" name="Oval 20"/>
          <p:cNvSpPr/>
          <p:nvPr/>
        </p:nvSpPr>
        <p:spPr>
          <a:xfrm>
            <a:off x="6263640" y="1828800"/>
            <a:ext cx="329184" cy="329184"/>
          </a:xfrm>
          <a:prstGeom prst="ellipse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63640" y="182880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20840" y="1837944"/>
            <a:ext cx="48006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201F1E"/>
                </a:solidFill>
                <a:latin typeface="Segoe UI"/>
              </a:rPr>
              <a:t>Small batches, fresh context, every commit human-reviewed.</a:t>
            </a:r>
          </a:p>
        </p:txBody>
      </p:sp>
      <p:sp>
        <p:nvSpPr>
          <p:cNvPr id="24" name="Oval 23"/>
          <p:cNvSpPr/>
          <p:nvPr/>
        </p:nvSpPr>
        <p:spPr>
          <a:xfrm>
            <a:off x="6263640" y="2670048"/>
            <a:ext cx="329184" cy="329184"/>
          </a:xfrm>
          <a:prstGeom prst="ellipse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63640" y="2670048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20840" y="2679192"/>
            <a:ext cx="48006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201F1E"/>
                </a:solidFill>
                <a:latin typeface="Segoe UI"/>
              </a:rPr>
              <a:t>Step 5’s taxonomy is weighted by track.</a:t>
            </a:r>
          </a:p>
        </p:txBody>
      </p:sp>
      <p:sp>
        <p:nvSpPr>
          <p:cNvPr id="27" name="Oval 26"/>
          <p:cNvSpPr/>
          <p:nvPr/>
        </p:nvSpPr>
        <p:spPr>
          <a:xfrm>
            <a:off x="6263640" y="3511296"/>
            <a:ext cx="329184" cy="329184"/>
          </a:xfrm>
          <a:prstGeom prst="ellipse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63640" y="3511296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20840" y="3520440"/>
            <a:ext cx="48006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201F1E"/>
                </a:solidFill>
                <a:latin typeface="Segoe UI"/>
              </a:rPr>
              <a:t>Step 6 is a real gate with an exit report.</a:t>
            </a:r>
          </a:p>
        </p:txBody>
      </p:sp>
      <p:sp>
        <p:nvSpPr>
          <p:cNvPr id="30" name="Oval 29"/>
          <p:cNvSpPr/>
          <p:nvPr/>
        </p:nvSpPr>
        <p:spPr>
          <a:xfrm>
            <a:off x="6263640" y="4352544"/>
            <a:ext cx="329184" cy="329184"/>
          </a:xfrm>
          <a:prstGeom prst="ellipse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63640" y="4352544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20840" y="4361688"/>
            <a:ext cx="48006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201F1E"/>
                </a:solidFill>
                <a:latin typeface="Segoe UI"/>
              </a:rPr>
              <a:t>Every outcome needs a named owner.</a:t>
            </a:r>
          </a:p>
        </p:txBody>
      </p:sp>
      <p:sp>
        <p:nvSpPr>
          <p:cNvPr id="33" name="Oval 32"/>
          <p:cNvSpPr/>
          <p:nvPr/>
        </p:nvSpPr>
        <p:spPr>
          <a:xfrm>
            <a:off x="6263640" y="5193792"/>
            <a:ext cx="329184" cy="329184"/>
          </a:xfrm>
          <a:prstGeom prst="ellipse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63640" y="5193792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10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20840" y="5202936"/>
            <a:ext cx="48006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201F1E"/>
                </a:solidFill>
                <a:latin typeface="Segoe UI"/>
              </a:rPr>
              <a:t>Measure DORA + escaped defects + well-being.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A8886"/>
                </a:solidFill>
                <a:latin typeface="Segoe UI"/>
              </a:rPr>
              <a:t>The AI Build Cycle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800" y="6473952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A8886"/>
                </a:solidFill>
                <a:latin typeface="Segoe UI"/>
              </a:rPr>
              <a:t>Quick reference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 spc="120">
                <a:solidFill>
                  <a:srgbClr val="0078D4"/>
                </a:solidFill>
                <a:latin typeface="Segoe UI"/>
              </a:rPr>
              <a:t>RESEARCH GROUNDING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04672"/>
            <a:ext cx="502920" cy="2794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201F1E"/>
                </a:solidFill>
                <a:latin typeface="Segoe UI"/>
              </a:rPr>
              <a:t>Where this comes from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5257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201F1E"/>
                </a:solidFill>
                <a:latin typeface="Segoe UI"/>
              </a:rPr>
              <a:t>Google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84832"/>
            <a:ext cx="5257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05E5C"/>
                </a:solidFill>
                <a:latin typeface="Segoe UI"/>
              </a:rPr>
              <a:t>The New SDLC With Vibe Coding (2026)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24328"/>
            <a:ext cx="5257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201F1E"/>
                </a:solidFill>
                <a:latin typeface="Segoe UI"/>
              </a:rPr>
              <a:t>DORA / Google Cloud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926080"/>
            <a:ext cx="5257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05E5C"/>
                </a:solidFill>
                <a:latin typeface="Segoe UI"/>
              </a:rPr>
              <a:t>State of AI-assisted Software Development 2025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465576"/>
            <a:ext cx="5257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201F1E"/>
                </a:solidFill>
                <a:latin typeface="Segoe UI"/>
              </a:rPr>
              <a:t>GitLab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767328"/>
            <a:ext cx="5257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05E5C"/>
                </a:solidFill>
                <a:latin typeface="Segoe UI"/>
              </a:rPr>
              <a:t>2026 Global DevSecOps Report — the “AI Paradox”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306824"/>
            <a:ext cx="5257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201F1E"/>
                </a:solidFill>
                <a:latin typeface="Segoe UI"/>
              </a:rPr>
              <a:t>METR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608576"/>
            <a:ext cx="5257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05E5C"/>
                </a:solidFill>
                <a:latin typeface="Segoe UI"/>
              </a:rPr>
              <a:t>Experienced-developer productivity RCT (2025)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148072"/>
            <a:ext cx="5257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201F1E"/>
                </a:solidFill>
                <a:latin typeface="Segoe UI"/>
              </a:rPr>
              <a:t>OWASP / OpenSSF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449824"/>
            <a:ext cx="5257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05E5C"/>
                </a:solidFill>
                <a:latin typeface="Segoe UI"/>
              </a:rPr>
              <a:t>Security-Focused Guide for AI Code Assistants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1783080"/>
            <a:ext cx="5257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201F1E"/>
                </a:solidFill>
                <a:latin typeface="Segoe UI"/>
              </a:rPr>
              <a:t>GitHub Spec Kit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2084832"/>
            <a:ext cx="5257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05E5C"/>
                </a:solidFill>
                <a:latin typeface="Segoe UI"/>
              </a:rPr>
              <a:t>Specify → Plan → Tasks pattern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2624328"/>
            <a:ext cx="5257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201F1E"/>
                </a:solidFill>
                <a:latin typeface="Segoe UI"/>
              </a:rPr>
              <a:t>Microsoft SDL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2926080"/>
            <a:ext cx="5257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05E5C"/>
                </a:solidFill>
                <a:latin typeface="Segoe UI"/>
              </a:rPr>
              <a:t>Testing taxonomy &amp; threat modeling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3465576"/>
            <a:ext cx="5257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201F1E"/>
                </a:solidFill>
                <a:latin typeface="Segoe UI"/>
              </a:rPr>
              <a:t>Microsoft Digital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3767328"/>
            <a:ext cx="5257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05E5C"/>
                </a:solidFill>
                <a:latin typeface="Segoe UI"/>
              </a:rPr>
              <a:t>Internal AI dogfooding — Outlook case study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3640" y="4306824"/>
            <a:ext cx="5257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201F1E"/>
                </a:solidFill>
                <a:latin typeface="Segoe UI"/>
              </a:rPr>
              <a:t>Stripe, Ramp, Faros, Thoughtworks, McKinsey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4608576"/>
            <a:ext cx="5257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05E5C"/>
                </a:solidFill>
                <a:latin typeface="Segoe UI"/>
              </a:rPr>
              <a:t>Engineering culture &amp; ROI research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A8886"/>
                </a:solidFill>
                <a:latin typeface="Segoe UI"/>
              </a:rPr>
              <a:t>The AI Build Cycle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0" y="6473952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A8886"/>
                </a:solidFill>
                <a:latin typeface="Segoe UI"/>
              </a:rPr>
              <a:t>Sources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01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651760"/>
            <a:ext cx="100584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FFFFFF"/>
                </a:solidFill>
                <a:latin typeface="Segoe UI"/>
              </a:rPr>
              <a:t>The model is not the bottleneck.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429000"/>
            <a:ext cx="100584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0078D4"/>
                </a:solidFill>
                <a:latin typeface="Segoe UI"/>
              </a:rPr>
              <a:t>The team’s engineering discipline is.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66344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C8C6C4"/>
                </a:solidFill>
                <a:latin typeface="Segoe UI"/>
              </a:rPr>
              <a:t>First draft — for discussion.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